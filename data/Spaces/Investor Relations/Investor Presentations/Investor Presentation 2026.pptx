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HB-RISK-017 proactively: export cable 2 re-manufacture, COD maintained, float now 6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Investor presentation 2026 · 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Weyland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Founded 2011 in Hamburg;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Wind, solar and storage in Germany, the UK and Denmark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Strong growth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Revenue CAGR 2021–2025: 13.5 %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EBITDA margin 47 %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Operating cash flow EUR 131 m in 2025</a:t>
            </a:r>
          </a:p>
        </p:txBody>
      </p:sp>
      <p:pic>
        <p:nvPicPr>
          <p:cNvPr id="5" name="Picture 4" descr="investor-rev-ebitda-46b3ac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Diversified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2,860 GWh generated in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64 % of revenue contracted long-term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Kestrel Ridge availability 97.4 %</a:t>
            </a:r>
          </a:p>
        </p:txBody>
      </p:sp>
      <p:pic>
        <p:nvPicPr>
          <p:cNvPr id="5" name="Picture 4" descr="investor-generation-2025-1b29b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Harrow Bay Offshore 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480 MW, 40 × Halden HTS-12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FID and financial close 12 Feb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1.62 bn capex, EUR 1.1 bn senior debt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12 of 40 monopiles installed by end of August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COD planned 30 June 2028</a:t>
            </a:r>
          </a:p>
        </p:txBody>
      </p:sp>
      <p:pic>
        <p:nvPicPr>
          <p:cNvPr id="5" name="Picture 4" descr="investor-monopile-installation.jpg"/>
          <p:cNvPicPr>
            <a:picLocks noChangeAspect="1"/>
          </p:cNvPicPr>
          <p:nvPr/>
        </p:nvPicPr>
        <p:blipFill>
          <a:blip r:embed="rId2"/>
          <a:srcRect l="18242" r="18242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substation-topsid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Offshore substation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HB-OSS topside installed on 19 August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PPA with Arcturus Steel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WE-PPA-2026-004 signed 12 May 2026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15 years, 150 MW pay-as-produced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~590 GWh per year for green steel production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Partner in the 5 MW Green Hydrogen Pilot</a:t>
            </a:r>
          </a:p>
        </p:txBody>
      </p:sp>
      <p:pic>
        <p:nvPicPr>
          <p:cNvPr id="5" name="Picture 4" descr="investor-green-steel.jpg"/>
          <p:cNvPicPr>
            <a:picLocks noChangeAspect="1"/>
          </p:cNvPicPr>
          <p:nvPr/>
        </p:nvPicPr>
        <p:blipFill>
          <a:blip r:embed="rId2"/>
          <a:srcRect l="12361" r="12361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2026 so far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EUR 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YTD Aug actual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YTD Aug budget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FY forecast (8+4)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FY budget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207.1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210.2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330.5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334.0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86.4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Strategy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 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≤ 6.0x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net debt / EBITDA after 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ESG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ESG rating 88/100, 4 stars (peer average 79)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96 % taxonomy-aligned revenue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ISO 9001, 14001, 45001 – ISO 27001 in Q2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20 % biodiversity net gain at Millbrook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Why Weyland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Proven operator with a de-risked growth project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Long-term contracted revenues with industrial offtakers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Disciplined capital allocation and capital recycling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Committed long-term shareholders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Investor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Campbell, Investor Relations · ir@weyland-energy.example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Presentation 2026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2026-03-30T10:00:00Z</dcterms:created>
  <dcterms:modified xsi:type="dcterms:W3CDTF">2026-09-17T10:00:00Z</dcterms:modified>
  <cp:category/>
</cp:coreProperties>
</file>