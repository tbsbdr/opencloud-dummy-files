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Hurdle rate for contracted offshore wind is 9.0 %. Mention the PPA with Arcturus – term sheet agreed, signing planned for May.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Gareth will ask about the cables. 14 weeks float to COD, LDs under WE-CON-2025-031.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ard-cover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Harrow Bay Offshore Wind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Final investment decision · Supervisory Board · 12 February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The project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0B3C5D"/>
                </a:solidFill>
                <a:latin typeface="Arial"/>
              </a:rPr>
              <a:t>480 MW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40 × Halden HTS-12</a:t>
            </a:r>
          </a:p>
        </p:txBody>
      </p:sp>
      <p:sp>
        <p:nvSpPr>
          <p:cNvPr id="8" name="Rectangle 7"/>
          <p:cNvSpPr/>
          <p:nvPr/>
        </p:nvSpPr>
        <p:spPr>
          <a:xfrm>
            <a:off x="3390823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90823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65143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700">
                <a:solidFill>
                  <a:srgbClr val="0B3C5D"/>
                </a:solidFill>
                <a:latin typeface="Arial"/>
              </a:rPr>
              <a:t>1.9 TWh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65143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per year (P50)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6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3006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7326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400">
                <a:solidFill>
                  <a:srgbClr val="0B3C5D"/>
                </a:solidFill>
                <a:latin typeface="Arial"/>
              </a:rPr>
              <a:t>EUR 1.62 bn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7326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total capex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75189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75189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49509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300">
                <a:solidFill>
                  <a:srgbClr val="0B3C5D"/>
                </a:solidFill>
                <a:latin typeface="Arial"/>
              </a:rPr>
              <a:t>Jun 2028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49509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COD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75488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500">
                <a:solidFill>
                  <a:srgbClr val="22303C"/>
                </a:solidFill>
                <a:latin typeface="Arial"/>
              </a:rPr>
              <a:t>•  38 km off the coast of Harrow Bay, water depth 28–36 m</a:t>
            </a:r>
          </a:p>
          <a:p>
            <a:r>
              <a:rPr b="0" sz="1500">
                <a:solidFill>
                  <a:srgbClr val="22303C"/>
                </a:solidFill>
                <a:latin typeface="Arial"/>
              </a:rPr>
              <a:t>•  2 × 220 kV export cables of 62 km to Harrow Bay East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Harrow Bay – Final Investment 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Capex budget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45920"/>
          <a:ext cx="11094415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7207"/>
                <a:gridCol w="5547208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Package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EUR m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Turbines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575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Foundations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268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Cables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232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Offshore substation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196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Installation, vessels &amp; logistics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122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Onshore &amp; grid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Development, owner's costs &amp; insurance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111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Contingency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1,620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Harrow Bay – Final Investment Decision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Financing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EUR 1,100 m senior debt, 5 lenders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Hanseatic Infrastructure Bank as MLA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EUR 520 m equity, equity first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85 % of interest hedged at 2.74 %</a:t>
            </a:r>
          </a:p>
        </p:txBody>
      </p:sp>
      <p:pic>
        <p:nvPicPr>
          <p:cNvPr id="5" name="Picture 4" descr="board-fid-funding-e5333b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469575"/>
            <a:ext cx="5059375" cy="2833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Harrow Bay – Final Investment Decision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Returns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45920"/>
          <a:ext cx="11094415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P50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P90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Project IRR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7.6 %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6.4 %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Equity IRR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10.4 %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8.1 %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Min. DSCR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1.40x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1.30x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LCOE (EUR/MWh)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Harrow Bay – Final Investment Decision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Schedule to COD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Apr 2026 – first monopile (MV Sea Atlas)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Aug 2026 – offshore substation topside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Q4 2026 – export cable lay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Mar 2027 – first turbine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Sep 2027 – first power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Jun 2028 – COD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Harrow Bay – Final Investment Decision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Key risks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Export cable manufacturing – single factory at Severn Subsea Cables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Weather downtime – P75 allowance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Marine mammals – bubble curtains, seasonal restrictions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Interest rates – hedged at FC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Harrow Bay – Final Investment Decision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We recommend approving the FID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Clean power, built to last.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Harrow Bay – Final Investment Decision</dc:title>
  <dc:subject/>
  <dc:creator>Elena Márquez</dc:creator>
  <cp:keywords/>
  <dc:description>generated using python-pptx</dc:description>
  <cp:lastModifiedBy>Elena Márquez</cp:lastModifiedBy>
  <cp:revision>1</cp:revision>
  <dcterms:created xsi:type="dcterms:W3CDTF">2026-01-28T10:00:00Z</dcterms:created>
  <dcterms:modified xsi:type="dcterms:W3CDTF">2026-02-10T10:00:00Z</dcterms:modified>
  <cp:category/>
</cp:coreProperties>
</file>