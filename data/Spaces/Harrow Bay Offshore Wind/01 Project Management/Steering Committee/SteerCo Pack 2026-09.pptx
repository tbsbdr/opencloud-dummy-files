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Hannah to cover the fatigue point – she wants a hard stop if the plan is not in place by 3 Oct.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approve D-015 and D-016 today so Atlas Marine can confirm crew for option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foundations-sunrise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Steering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Meeting No. 9 · 23 September 2026 · Hamburg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Status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700">
                <a:solidFill>
                  <a:srgbClr val="0B3C5D"/>
                </a:solidFill>
                <a:latin typeface="Arial"/>
              </a:rPr>
              <a:t>13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Monopiles installed (HB-A14 pitched)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Lost time injuries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m spent of 1,620 m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31.4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m contingency remaining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Offshore substation topside installed on 19 August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Export cable 2 delay (HB-RISK-017) remains the top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412,000 man-hours without lost time injury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HSE-INC-2026-018 – all 8 corrective actions closed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One medical treatment case (8 July, in port)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24/7 piling needs a fatigue management plan before start</a:t>
            </a:r>
          </a:p>
        </p:txBody>
      </p:sp>
      <p:pic>
        <p:nvPicPr>
          <p:cNvPr id="5" name="Picture 4" descr="harrow-bay-toolbox-talk.jpg"/>
          <p:cNvPicPr>
            <a:picLocks noChangeAspect="1"/>
          </p:cNvPicPr>
          <p:nvPr/>
        </p:nvPicPr>
        <p:blipFill>
          <a:blip r:embed="rId2"/>
          <a:srcRect l="12370" r="1237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Foundations – progress vs.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13 installed vs. 16 planned (-3)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210 h waiting on weather in September (to 27 Sep)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HB-A14 pitched 26 Sep, driving pending</a:t>
            </a:r>
          </a:p>
        </p:txBody>
      </p:sp>
      <p:pic>
        <p:nvPicPr>
          <p:cNvPr id="5" name="Picture 4" descr="harrow-bay-scurve-steerco-01b98c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Weather downtime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August and September far above the 75 h monthly allowance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CO-009 standby EUR 2.33 m approved</a:t>
            </a:r>
          </a:p>
        </p:txBody>
      </p:sp>
      <p:pic>
        <p:nvPicPr>
          <p:cNvPr id="5" name="Picture 4" descr="harrow-bay-wow-monthly-155b44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Monopile recovery plan – for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Exercise charter option 2: +45 days, EUR 2.25 m (CO-011)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24/7 piling outside night-time restriction areas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Four piles per load-out for string 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Forecast last monopile 26 Feb 2027 (baseline 12 Feb)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 impact on first turbine installation 1 Mar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Export cable 2 – HB-RISK-017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Severn Subsea Cables factory test failure, 21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Cable delay – where we stand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Root cause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Partial discharge in factory joint FJ-2/07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Re-manufacture of 9 km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15 Jan 2027 → 12 Mar 2027 (+8 weeks)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Resequenced lay (D-013), first power via export cable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Commercial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CO-010 EUR 6.8 m vs. LDs EUR 85k/day after 21-day grace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Next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CEO-level meeting if not agreed by 15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EAC EUR 1,620 m – on budget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Contingency drawn EUR 23.6 m of 55.0 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LD recovery EUR 4.2 m not yet included</a:t>
            </a:r>
          </a:p>
        </p:txBody>
      </p:sp>
      <p:pic>
        <p:nvPicPr>
          <p:cNvPr id="5" name="Picture 4" descr="harrow-bay-capex-by-package-4e889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Decisions requested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Recommendation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D-015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Exercise charter option 2 for MV Sea Atlas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Approve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D-016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24/7 piling where consent allows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Approve, subject to fatigue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piling.jpg"/>
          <p:cNvPicPr>
            <a:picLocks noChangeAspect="1"/>
          </p:cNvPicPr>
          <p:nvPr/>
        </p:nvPicPr>
        <p:blipFill>
          <a:blip r:embed="rId2"/>
          <a:srcRect t="7801" b="78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Next SteerCo: 21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Steering Committee – September 2026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2026-09-14T10:00:00Z</dcterms:created>
  <dcterms:modified xsi:type="dcterms:W3CDTF">2026-09-22T10:00:00Z</dcterms:modified>
  <cp:category/>
</cp:coreProperties>
</file>